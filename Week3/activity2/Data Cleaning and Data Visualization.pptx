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6256000" cy="9144000"/>
  <p:notesSz cx="9144000" cy="16256000"/>
  <p:embeddedFontLst>
    <p:embeddedFont>
      <p:font typeface="Quattrocento Sans" charset="-122" pitchFamily="34"/>
      <p:regular r:id="rId1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l3d542qbwnlvm/mnt/agents/output/data-cleaning-correlation/images/cover_bg.jp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D23">
                  <a:alpha val="94000"/>
                </a:srgbClr>
              </a:gs>
              <a:gs pos="60000">
                <a:srgbClr val="1A1D23">
                  <a:alpha val="75000"/>
                </a:srgbClr>
              </a:gs>
              <a:gs pos="100000">
                <a:srgbClr val="1A1D23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3048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spc="400" kern="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CLEANING AND VISUALIZATION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1016000" cy="508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 2: Pearson Correlation Heatmap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Dataset Analysis — 3-Minute Video Presentation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Cleaning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93800"/>
            <a:ext cx="2032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Issues Identified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05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006600"/>
            <a:ext cx="64008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Missing values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key columns: Age, Salary, Name, Country, ID, and Join Date.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Duplicate records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found, particularly for one employee entry.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Incorrect formats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Age column contained text values such as "thirty-eight" instead of numeric values.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524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Actions Taken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362950" y="2057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3252" y="58698"/>
                </a:moveTo>
                <a:cubicBezTo>
                  <a:pt x="307777" y="54173"/>
                  <a:pt x="315337" y="55305"/>
                  <a:pt x="317599" y="61258"/>
                </a:cubicBezTo>
                <a:cubicBezTo>
                  <a:pt x="321647" y="71795"/>
                  <a:pt x="323850" y="83284"/>
                  <a:pt x="323850" y="95250"/>
                </a:cubicBezTo>
                <a:cubicBezTo>
                  <a:pt x="323850" y="147876"/>
                  <a:pt x="281226" y="190500"/>
                  <a:pt x="228600" y="190500"/>
                </a:cubicBezTo>
                <a:cubicBezTo>
                  <a:pt x="218182" y="190500"/>
                  <a:pt x="208121" y="188833"/>
                  <a:pt x="198715" y="185738"/>
                </a:cubicBezTo>
                <a:lnTo>
                  <a:pt x="87451" y="297001"/>
                </a:lnTo>
                <a:cubicBezTo>
                  <a:pt x="70723" y="313730"/>
                  <a:pt x="43577" y="313730"/>
                  <a:pt x="26849" y="297001"/>
                </a:cubicBezTo>
                <a:cubicBezTo>
                  <a:pt x="10120" y="280273"/>
                  <a:pt x="10120" y="253127"/>
                  <a:pt x="26849" y="236399"/>
                </a:cubicBezTo>
                <a:lnTo>
                  <a:pt x="138113" y="125135"/>
                </a:lnTo>
                <a:cubicBezTo>
                  <a:pt x="135017" y="115729"/>
                  <a:pt x="133350" y="105728"/>
                  <a:pt x="133350" y="95250"/>
                </a:cubicBezTo>
                <a:cubicBezTo>
                  <a:pt x="133350" y="42624"/>
                  <a:pt x="175974" y="0"/>
                  <a:pt x="228600" y="0"/>
                </a:cubicBezTo>
                <a:cubicBezTo>
                  <a:pt x="240566" y="0"/>
                  <a:pt x="252055" y="2203"/>
                  <a:pt x="262592" y="6251"/>
                </a:cubicBezTo>
                <a:cubicBezTo>
                  <a:pt x="268545" y="8513"/>
                  <a:pt x="269617" y="16073"/>
                  <a:pt x="265152" y="20598"/>
                </a:cubicBezTo>
                <a:lnTo>
                  <a:pt x="212348" y="73402"/>
                </a:lnTo>
                <a:cubicBezTo>
                  <a:pt x="210562" y="75188"/>
                  <a:pt x="209550" y="77629"/>
                  <a:pt x="209550" y="80129"/>
                </a:cubicBezTo>
                <a:lnTo>
                  <a:pt x="209550" y="104775"/>
                </a:lnTo>
                <a:cubicBezTo>
                  <a:pt x="209550" y="110014"/>
                  <a:pt x="213836" y="114300"/>
                  <a:pt x="219075" y="114300"/>
                </a:cubicBezTo>
                <a:lnTo>
                  <a:pt x="243721" y="114300"/>
                </a:lnTo>
                <a:cubicBezTo>
                  <a:pt x="246221" y="114300"/>
                  <a:pt x="248662" y="113288"/>
                  <a:pt x="250448" y="111502"/>
                </a:cubicBezTo>
                <a:lnTo>
                  <a:pt x="303252" y="58698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9" name="Text 7"/>
          <p:cNvSpPr/>
          <p:nvPr/>
        </p:nvSpPr>
        <p:spPr>
          <a:xfrm>
            <a:off x="8839200" y="2006600"/>
            <a:ext cx="66548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Removed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duplicate records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the dataset.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Converted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text-based numbers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proper numerical format.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Replaced missing numerical values using the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median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Standardized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date values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a consistent format.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Flagged invalid or missing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categorical entries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review.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4826000"/>
            <a:ext cx="14732000" cy="1143000"/>
          </a:xfrm>
          <a:prstGeom prst="rect">
            <a:avLst/>
          </a:prstGeom>
          <a:solidFill>
            <a:srgbClr val="EDEE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4826000"/>
            <a:ext cx="63500" cy="1143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4953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dataset is now accurate, consistent, and ready for analysis. All critical quality issues have been resolved.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Activity 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Pearson Correlation Heatmap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93800"/>
            <a:ext cx="3048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Correlation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+1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Perfect positive correlation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-1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Perfect negative correlation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linear relationship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406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4572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C75B3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 ≈ 0.26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62000" y="5334000"/>
            <a:ext cx="635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weak positive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correlation between Age and Salary. As age increases, salary tends to increase slightly, but the relationship is not strong.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correlation between ID and other variables is close to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zero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indicating no meaningful relationship.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Activity 2</a:t>
            </a:r>
            <a:endParaRPr lang="en-US" sz="1400" dirty="0"/>
          </a:p>
        </p:txBody>
      </p:sp>
      <p:pic>
        <p:nvPicPr>
          <p:cNvPr id="10" name="Image 0" descr="https://kimi-img.moonshot.cn/pub/slides/26-04-28-18:06:04-d7o8d35kbg74a0cvj8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67711" y="1524000"/>
            <a:ext cx="7178579" cy="5842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Outlier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93800"/>
            <a:ext cx="2032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Method: Interquartile Range (IQR)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2000" y="2032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Outliers are values that fall below Q1 − 1.5×IQR or above Q3 + 1.5×IQR.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794000"/>
            <a:ext cx="7112000" cy="2540000"/>
          </a:xfrm>
          <a:prstGeom prst="rect">
            <a:avLst/>
          </a:prstGeom>
          <a:solidFill>
            <a:srgbClr val="EDEE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794000"/>
            <a:ext cx="63500" cy="2540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04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3048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Salary Outlier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3683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445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Significantly higher than most salary values in the dataset.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2794000"/>
            <a:ext cx="7112000" cy="2540000"/>
          </a:xfrm>
          <a:prstGeom prst="rect">
            <a:avLst/>
          </a:prstGeom>
          <a:solidFill>
            <a:srgbClr val="EDEE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2000" y="2794000"/>
            <a:ext cx="63500" cy="2540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8788400" y="304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lose/>
                <a:moveTo>
                  <a:pt x="154226" y="241300"/>
                </a:moveTo>
                <a:cubicBezTo>
                  <a:pt x="76041" y="241300"/>
                  <a:pt x="12700" y="304641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319326" y="406400"/>
                </a:lnTo>
                <a:cubicBezTo>
                  <a:pt x="332343" y="406400"/>
                  <a:pt x="342900" y="395843"/>
                  <a:pt x="342900" y="382826"/>
                </a:cubicBezTo>
                <a:cubicBezTo>
                  <a:pt x="342900" y="304641"/>
                  <a:pt x="279559" y="241300"/>
                  <a:pt x="201374" y="241300"/>
                </a:cubicBezTo>
                <a:lnTo>
                  <a:pt x="154226" y="241300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9334500" y="3048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 Outliers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63000" y="3683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22, 35, 40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3000" y="4445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Potential age outliers detected using the IQR method.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842000"/>
            <a:ext cx="14732000" cy="1143000"/>
          </a:xfrm>
          <a:prstGeom prst="rect">
            <a:avLst/>
          </a:prstGeom>
          <a:solidFill>
            <a:srgbClr val="EDEE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000" y="5842000"/>
            <a:ext cx="63500" cy="114300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0" name="Text 18"/>
          <p:cNvSpPr/>
          <p:nvPr/>
        </p:nvSpPr>
        <p:spPr>
          <a:xfrm>
            <a:off x="1079500" y="59690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These values are not necessarily incorrect, but they are unusual compared to the rest of the dataset and may influence statistical analysis. Boxplots can clearly highlight these outliers.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Activity 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Insights and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93800"/>
            <a:ext cx="3048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600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Quality: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Cleaning resolved missing values, duplicates, formatting errors, and inconsistencies, making the dataset reliable for analysis.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2616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Correlation: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weak positive correlation (r ≈ 0.26) between Age and Salary suggests only a slight linear relationship.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632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Outliers: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125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Unusual salary (72,000) and age values (22, 35, 40) were identified and may require further investigation.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4826000"/>
            <a:ext cx="14732000" cy="1270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953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process demonstrates the critical importance of data cleaning and visualization in preparing reliable datasets for meaningful analysis and informed decision-making.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604000"/>
            <a:ext cx="147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0" y="8636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Activity 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and Data Visualization</dc:title>
  <dc:subject>Data Cleaning and Data Visualization</dc:subject>
  <dc:creator>Kimi</dc:creator>
  <cp:lastModifiedBy>Kimi</cp:lastModifiedBy>
  <cp:revision>1</cp:revision>
  <dcterms:created xsi:type="dcterms:W3CDTF">2026-04-28T10:07:44Z</dcterms:created>
  <dcterms:modified xsi:type="dcterms:W3CDTF">2026-04-28T10:07:44Z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{"Label":"Data Cleaning and Data Visualization","ContentProducer":"001191110108MACG2KBH8F10000","ProduceID":"19dd34ee-6322-8238-8000-00009a49b843","ReservedCode1":"","ContentPropagator":"001191110108MACG2KBH8F20000","PropagateID":"19dd34ee-6322-8238-8000-00009a49b843","ReservedCode2":""}</vt:lpwstr>
  </property>
</Properties>
</file>