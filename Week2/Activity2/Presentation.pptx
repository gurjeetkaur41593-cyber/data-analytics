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21678900" cy="12192000"/>
  <p:notesSz cx="12192000" cy="21678900"/>
  <p:embeddedFontLst>
    <p:embeddedFont>
      <p:font typeface="Liter" charset="-122" pitchFamily="34"/>
      <p:regular r:id="rId14"/>
    </p:embeddedFont>
    <p:embeddedFont>
      <p:font typeface="Quattrocento Sans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Level</c:v>
                </c:pt>
              </c:strCache>
            </c:strRef>
          </c:tx>
          <c:spPr>
            <a:solidFill>
              <a:srgbClr val="2A3F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C25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PM2.5</c:v>
                  </c:pt>
                  <c:pt idx="1">
                    <c:v>PM10</c:v>
                  </c:pt>
                  <c:pt idx="2">
                    <c:v>SO2</c:v>
                  </c:pt>
                  <c:pt idx="3">
                    <c:v>NO2</c:v>
                  </c:pt>
                  <c:pt idx="4">
                    <c:v>CO</c:v>
                  </c:pt>
                  <c:pt idx="5">
                    <c:v>O3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110</c:v>
                </c:pt>
                <c:pt idx="2">
                  <c:v>18</c:v>
                </c:pt>
                <c:pt idx="3">
                  <c:v>45</c:v>
                </c:pt>
                <c:pt idx="4">
                  <c:v>0.8</c:v>
                </c:pt>
                <c:pt idx="5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Max Level</c:v>
                </c:pt>
              </c:strCache>
            </c:strRef>
          </c:tx>
          <c:spPr>
            <a:solidFill>
              <a:srgbClr val="C87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C25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PM2.5</c:v>
                  </c:pt>
                  <c:pt idx="1">
                    <c:v>PM10</c:v>
                  </c:pt>
                  <c:pt idx="2">
                    <c:v>SO2</c:v>
                  </c:pt>
                  <c:pt idx="3">
                    <c:v>NO2</c:v>
                  </c:pt>
                  <c:pt idx="4">
                    <c:v>CO</c:v>
                  </c:pt>
                  <c:pt idx="5">
                    <c:v>O3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250</c:v>
                </c:pt>
                <c:pt idx="1">
                  <c:v>350</c:v>
                </c:pt>
                <c:pt idx="2">
                  <c:v>80</c:v>
                </c:pt>
                <c:pt idx="3">
                  <c:v>120</c:v>
                </c:pt>
                <c:pt idx="4">
                  <c:v>3.5</c:v>
                </c:pt>
                <c:pt idx="5">
                  <c:v>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C25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0DCD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870">
              <a:solidFill>
                <a:srgbClr val="1C25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Concentration</c:v>
                </c:pt>
              </c:strCache>
            </c:strRef>
          </c:tx>
          <c:spPr>
            <a:solidFill>
              <a:srgbClr val="2A3F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73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O3</c:v>
                  </c:pt>
                  <c:pt idx="1">
                    <c:v>PM10</c:v>
                  </c:pt>
                  <c:pt idx="2">
                    <c:v>PM2.5</c:v>
                  </c:pt>
                  <c:pt idx="3">
                    <c:v>NO2</c:v>
                  </c:pt>
                  <c:pt idx="4">
                    <c:v>SO2</c:v>
                  </c:pt>
                  <c:pt idx="5">
                    <c:v>CO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110</c:v>
                </c:pt>
                <c:pt idx="2">
                  <c:v>85</c:v>
                </c:pt>
                <c:pt idx="3">
                  <c:v>45</c:v>
                </c:pt>
                <c:pt idx="4">
                  <c:v>18</c:v>
                </c:pt>
                <c:pt idx="5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73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dcd7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2A3F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70" u="none">
                    <a:solidFill>
                      <a:srgbClr val="1C25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0-35</c:v>
                  </c:pt>
                  <c:pt idx="1">
                    <c:v>35-75</c:v>
                  </c:pt>
                  <c:pt idx="2">
                    <c:v>75-115</c:v>
                  </c:pt>
                  <c:pt idx="3">
                    <c:v>115-150</c:v>
                  </c:pt>
                  <c:pt idx="4">
                    <c:v>150-200</c:v>
                  </c:pt>
                  <c:pt idx="5">
                    <c:v>200+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1800</c:v>
                </c:pt>
                <c:pt idx="1">
                  <c:v>2200</c:v>
                </c:pt>
                <c:pt idx="2">
                  <c:v>1600</c:v>
                </c:pt>
                <c:pt idx="3">
                  <c:v>900</c:v>
                </c:pt>
                <c:pt idx="4">
                  <c:v>600</c:v>
                </c:pt>
                <c:pt idx="5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70" u="none">
                  <a:solidFill>
                    <a:srgbClr val="1C25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0DCD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dc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trpt57g3ivkw/mnt/agents/output/beijing_air_quality/images/image_1.png">    </p:cNvPr>
          <p:cNvPicPr>
            <a:picLocks noChangeAspect="1"/>
          </p:cNvPicPr>
          <p:nvPr/>
        </p:nvPicPr>
        <p:blipFill>
          <a:blip r:embed="rId1"/>
          <a:srcRect l="0" r="0" t="780" b="780"/>
          <a:stretch/>
        </p:blipFill>
        <p:spPr>
          <a:xfrm>
            <a:off x="0" y="0"/>
            <a:ext cx="21674709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1674709" cy="12192000"/>
          </a:xfrm>
          <a:prstGeom prst="rect">
            <a:avLst/>
          </a:prstGeom>
          <a:gradFill rotWithShape="1" flip="none">
            <a:gsLst>
              <a:gs pos="0">
                <a:srgbClr val="1C252E">
                  <a:alpha val="94000"/>
                </a:srgbClr>
              </a:gs>
              <a:gs pos="55000">
                <a:srgbClr val="1C252E">
                  <a:alpha val="80000"/>
                </a:srgbClr>
              </a:gs>
              <a:gs pos="100000">
                <a:srgbClr val="1C252E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3386709"/>
            <a:ext cx="67691" cy="4741291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5" name="Shape 2"/>
          <p:cNvSpPr/>
          <p:nvPr/>
        </p:nvSpPr>
        <p:spPr>
          <a:xfrm>
            <a:off x="1422400" y="3386709"/>
            <a:ext cx="10160000" cy="2201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00480" y="3325749"/>
            <a:ext cx="10403840" cy="2323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693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BEIJING AIR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693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422400" y="5926709"/>
            <a:ext cx="846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300480" y="5865749"/>
            <a:ext cx="8710549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Exploring Pollution Patterns Across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Beijing Stations (2013–2017)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22400" y="7450709"/>
            <a:ext cx="2032000" cy="0"/>
          </a:xfrm>
          <a:prstGeom prst="straightConnector1">
            <a:avLst/>
          </a:prstGeom>
          <a:noFill/>
          <a:ln w="25400">
            <a:solidFill>
              <a:srgbClr val="C87E4F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1422400" y="7789291"/>
            <a:ext cx="6773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300480" y="7728331"/>
            <a:ext cx="7017131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PRSA Dataset · Data Cleaning · Statistical Analysis · Correlation Study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289966" y="10615552"/>
            <a:ext cx="4595477" cy="52760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E6E6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Presenter:- Gurjeet Kaur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846709"/>
            <a:ext cx="6773291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94080" y="785749"/>
            <a:ext cx="7017131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133" kern="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1862709"/>
            <a:ext cx="1016000" cy="67691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7281291"/>
            <a:ext cx="19642709" cy="0"/>
          </a:xfrm>
          <a:prstGeom prst="straightConnector1">
            <a:avLst/>
          </a:prstGeom>
          <a:noFill/>
          <a:ln w="12700">
            <a:solidFill>
              <a:srgbClr val="E0DCD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16000" y="3386709"/>
            <a:ext cx="1354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94080" y="3325749"/>
            <a:ext cx="1598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C87E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4741291"/>
            <a:ext cx="440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94080" y="4680331"/>
            <a:ext cx="464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&amp; Preparation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5503291"/>
            <a:ext cx="4402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94080" y="5442331"/>
            <a:ext cx="4646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loading, structure overview, and cleaning workflow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0" y="3386709"/>
            <a:ext cx="1354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74080" y="3325749"/>
            <a:ext cx="1598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C87E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4741291"/>
            <a:ext cx="440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74080" y="4680331"/>
            <a:ext cx="464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Insights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0" y="5503291"/>
            <a:ext cx="4402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74080" y="5442331"/>
            <a:ext cx="4646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Descriptive statistics and key metric summaries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176000" y="3386709"/>
            <a:ext cx="1354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054080" y="3325749"/>
            <a:ext cx="1598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C87E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176000" y="4741291"/>
            <a:ext cx="440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054080" y="4680331"/>
            <a:ext cx="464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Pollution Patterns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176000" y="5503291"/>
            <a:ext cx="4402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054080" y="5442331"/>
            <a:ext cx="4646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Station-level averages and pollutant breakdown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6256000" y="3386709"/>
            <a:ext cx="1354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6134080" y="3325749"/>
            <a:ext cx="1598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C87E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6256000" y="4741291"/>
            <a:ext cx="440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6134080" y="4680331"/>
            <a:ext cx="464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&amp; Conclusions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6256000" y="5503291"/>
            <a:ext cx="4402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6134080" y="5442331"/>
            <a:ext cx="4646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Heatmap analysis and meteorological drivers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16000" y="11514709"/>
            <a:ext cx="3386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94080" y="11453749"/>
            <a:ext cx="363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Beijing Air Quality Analysis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691" cy="12192000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762000"/>
            <a:ext cx="10160000" cy="711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701040"/>
            <a:ext cx="10403840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133" kern="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&amp; Data Preparation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608709"/>
            <a:ext cx="846709" cy="50800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032000"/>
            <a:ext cx="8805291" cy="643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94080" y="1971040"/>
            <a:ext cx="9049131" cy="655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</a:t>
            </a:r>
            <a:pPr>
              <a:lnSpc>
                <a:spcPct val="160000"/>
              </a:lnSpc>
            </a:pPr>
            <a:r>
              <a:rPr lang="en-US" sz="240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PRSA Dataset — Multiple Beijing Stations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Period:</a:t>
            </a:r>
            <a:pPr>
              <a:lnSpc>
                <a:spcPct val="160000"/>
              </a:lnSpc>
            </a:pPr>
            <a:r>
              <a:rPr lang="en-US" sz="240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March 2013 to February 2017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40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dataset tracks six air quality indicators and five meteorological variables: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C87E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Pollutants: PM2.5, PM10, SO2, NO2, CO, O3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C87E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240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Weather: TEMP, PRES, DEWP, RAIN, WSPM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40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 involved mean imputation for missing numerical values and duplicate record removal to ensure reliable downstream analysis.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176000" y="2201291"/>
            <a:ext cx="609600" cy="609600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9" name="Shape 7"/>
          <p:cNvSpPr/>
          <p:nvPr/>
        </p:nvSpPr>
        <p:spPr>
          <a:xfrm>
            <a:off x="12022709" y="2201291"/>
            <a:ext cx="3386709" cy="609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900789" y="2140331"/>
            <a:ext cx="3630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PM2.5 / PM10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137900" y="3217291"/>
            <a:ext cx="685800" cy="609600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22709" y="3217291"/>
            <a:ext cx="3386709" cy="609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900789" y="3156331"/>
            <a:ext cx="3630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SO2 / NO2 / O3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290300" y="4233291"/>
            <a:ext cx="381000" cy="609600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22709" y="4233291"/>
            <a:ext cx="3386709" cy="609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900789" y="4172331"/>
            <a:ext cx="3630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Meteorological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137900" y="5249291"/>
            <a:ext cx="685800" cy="609600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22709" y="5249291"/>
            <a:ext cx="4572000" cy="609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900789" y="5188331"/>
            <a:ext cx="48158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 Imputation + Deduplication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176000" y="8974709"/>
            <a:ext cx="9144000" cy="2370709"/>
          </a:xfrm>
          <a:prstGeom prst="rect">
            <a:avLst/>
          </a:prstGeom>
          <a:solidFill>
            <a:srgbClr val="EDEAE6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84000" y="9144000"/>
            <a:ext cx="3386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562080" y="9083040"/>
            <a:ext cx="363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0" spc="133" kern="0" dirty="0">
                <a:solidFill>
                  <a:srgbClr val="8A9B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PROFILE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684000" y="9787509"/>
            <a:ext cx="8128000" cy="0"/>
          </a:xfrm>
          <a:prstGeom prst="straightConnector1">
            <a:avLst/>
          </a:prstGeom>
          <a:noFill/>
          <a:ln w="12700">
            <a:solidFill>
              <a:srgbClr val="E0DCD7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1684000" y="9990709"/>
            <a:ext cx="3725291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562080" y="9929749"/>
            <a:ext cx="3969131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spc="133" kern="0" dirty="0">
                <a:solidFill>
                  <a:srgbClr val="C87E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684000" y="10922000"/>
            <a:ext cx="3725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562080" y="10861040"/>
            <a:ext cx="3969131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Variables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5748000" y="9990709"/>
            <a:ext cx="3725291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5626080" y="9929749"/>
            <a:ext cx="3969131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spc="133" kern="0" dirty="0">
                <a:solidFill>
                  <a:srgbClr val="C87E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Years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5748000" y="10922000"/>
            <a:ext cx="3725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5626080" y="10861040"/>
            <a:ext cx="3969131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Period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9642709" y="11514709"/>
            <a:ext cx="1016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9520789" y="11453749"/>
            <a:ext cx="1259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691" cy="12192000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762000"/>
            <a:ext cx="10160000" cy="711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701040"/>
            <a:ext cx="10403840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133" kern="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Statistical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608709"/>
            <a:ext cx="846709" cy="50800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201291"/>
            <a:ext cx="4572000" cy="321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201291"/>
            <a:ext cx="67691" cy="3217291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8" name="Shape 6"/>
          <p:cNvSpPr/>
          <p:nvPr/>
        </p:nvSpPr>
        <p:spPr>
          <a:xfrm>
            <a:off x="1422400" y="2540000"/>
            <a:ext cx="38268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00480" y="2479040"/>
            <a:ext cx="4070731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870" spc="133" kern="0" dirty="0">
                <a:solidFill>
                  <a:srgbClr val="C87E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PM2.5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2400" y="3725291"/>
            <a:ext cx="3826891" cy="143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00480" y="3664331"/>
            <a:ext cx="4070731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variability in fine particulate matter concentration across the monitoring period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26709" y="2201291"/>
            <a:ext cx="4572000" cy="321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26709" y="2201291"/>
            <a:ext cx="67691" cy="3217291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14" name="Shape 12"/>
          <p:cNvSpPr/>
          <p:nvPr/>
        </p:nvSpPr>
        <p:spPr>
          <a:xfrm>
            <a:off x="6333109" y="2540000"/>
            <a:ext cx="38268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11189" y="2479040"/>
            <a:ext cx="4070731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870" spc="133" kern="0" dirty="0">
                <a:solidFill>
                  <a:srgbClr val="C87E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PM10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33109" y="3725291"/>
            <a:ext cx="3826891" cy="143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11189" y="3664331"/>
            <a:ext cx="4070731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Coarse particulate matter showing significant fluctuations and extreme events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837291" y="2201291"/>
            <a:ext cx="4572000" cy="321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37291" y="2201291"/>
            <a:ext cx="67691" cy="3217291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43691" y="2540000"/>
            <a:ext cx="38268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121771" y="2479040"/>
            <a:ext cx="4070731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870" spc="133" kern="0" dirty="0">
                <a:solidFill>
                  <a:srgbClr val="C87E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243691" y="3725291"/>
            <a:ext cx="3826891" cy="143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121771" y="3664331"/>
            <a:ext cx="4070731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Sulfur dioxide levels indicate industrial and combustion emission patterns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5748000" y="2201291"/>
            <a:ext cx="4572000" cy="321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5748000" y="2201291"/>
            <a:ext cx="67691" cy="2709291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26" name="Shape 24"/>
          <p:cNvSpPr/>
          <p:nvPr/>
        </p:nvSpPr>
        <p:spPr>
          <a:xfrm>
            <a:off x="16154400" y="2540000"/>
            <a:ext cx="38268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6032480" y="2479040"/>
            <a:ext cx="4070731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870" spc="133" kern="0" dirty="0">
                <a:solidFill>
                  <a:srgbClr val="C87E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6154400" y="3725291"/>
            <a:ext cx="3826891" cy="143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6032480" y="3664331"/>
            <a:ext cx="4070731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Nitrogen dioxide closely linked to vehicular traffic and urban activity</a:t>
            </a:r>
            <a:endParaRPr lang="en-US" sz="16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1016000" y="5926709"/>
          <a:ext cx="19642709" cy="491070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19642709" y="11514709"/>
            <a:ext cx="1016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19520789" y="11453749"/>
            <a:ext cx="1259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691" cy="12192000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762000"/>
            <a:ext cx="11853291" cy="711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701040"/>
            <a:ext cx="12097131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133" kern="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Pollution Levels by Station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608709"/>
            <a:ext cx="846709" cy="50800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947291"/>
            <a:ext cx="10160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94080" y="1886331"/>
            <a:ext cx="1040384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13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concentrations of key pollutants grouped by monitoring station, revealing the dominant air quality challenges across Beijing.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1016000" y="3386709"/>
          <a:ext cx="19642709" cy="711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1016000" y="10498709"/>
            <a:ext cx="19642709" cy="846709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10" name="Shape 7"/>
          <p:cNvSpPr/>
          <p:nvPr/>
        </p:nvSpPr>
        <p:spPr>
          <a:xfrm>
            <a:off x="1354709" y="10498709"/>
            <a:ext cx="18965291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232789" y="10437749"/>
            <a:ext cx="19209131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00000"/>
              </a:lnSpc>
            </a:pPr>
            <a:r>
              <a:rPr lang="en-US" sz="213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PM10 and PM2.5 dominate the pollution profile, with PM10 averaging 110 μg/m³ — exceeding WHO guidelines.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9642709" y="11785600"/>
            <a:ext cx="1016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9520789" y="11724640"/>
            <a:ext cx="1259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691" cy="12192000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762000"/>
            <a:ext cx="11853291" cy="711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701040"/>
            <a:ext cx="12097131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133" kern="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Distribution &amp; Correlation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608709"/>
            <a:ext cx="846709" cy="50800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032000"/>
            <a:ext cx="9144000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94080" y="1971040"/>
            <a:ext cx="9387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67" kern="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PM2.5 Distribution Pattern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1016000" y="2709291"/>
          <a:ext cx="9144000" cy="440270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11176000" y="2032000"/>
            <a:ext cx="9144000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054080" y="1971040"/>
            <a:ext cx="9387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67" kern="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Correlations with PM2.5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176000" y="2709291"/>
          <a:ext cx="9144000" cy="4402709"/>
        </p:xfrm>
        <a:graphic>
          <a:graphicData uri="http://schemas.openxmlformats.org/drawingml/2006/table">
            <a:tbl>
              <a:tblPr/>
              <a:tblGrid>
                <a:gridCol w="4572000"/>
                <a:gridCol w="2286000"/>
                <a:gridCol w="2286000"/>
              </a:tblGrid>
              <a:tr h="870450"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Variable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Correlation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Strength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54"/>
                    </a:solidFill>
                  </a:tcPr>
                </a:tc>
              </a:tr>
              <a:tr h="706452"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PM10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0.82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Strong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06452"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0.68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Moderate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DE8"/>
                    </a:solidFill>
                  </a:tcPr>
                </a:tc>
              </a:tr>
              <a:tr h="706452"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NO2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0.55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Moderate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06452"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SO2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0.42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Weak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DE8"/>
                    </a:solidFill>
                  </a:tcPr>
                </a:tc>
              </a:tr>
              <a:tr h="706452"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TEMP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-0.35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u="none" dirty="0">
                          <a:solidFill>
                            <a:srgbClr val="1C25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Weak</a:t>
                      </a:r>
                      <a:endParaRPr lang="en-US" sz="213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1016000" y="7620000"/>
            <a:ext cx="19642709" cy="304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1016000" y="7620000"/>
            <a:ext cx="67691" cy="3048000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14" name="Shape 10"/>
          <p:cNvSpPr/>
          <p:nvPr/>
        </p:nvSpPr>
        <p:spPr>
          <a:xfrm>
            <a:off x="1422400" y="7874000"/>
            <a:ext cx="6773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300480" y="7813040"/>
            <a:ext cx="7017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67" kern="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422400" y="8551291"/>
            <a:ext cx="18626709" cy="186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1300480" y="8490331"/>
            <a:ext cx="18870549" cy="198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13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2130" b="1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PM2.5 and PM10</a:t>
            </a:r>
            <a:pPr>
              <a:lnSpc>
                <a:spcPct val="160000"/>
              </a:lnSpc>
            </a:pPr>
            <a:r>
              <a:rPr lang="en-US" sz="213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strongly correlated (r = 0.82), indicating shared sources and transport mechanisms for particulate matter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13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2130" b="1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Carbon monoxide</a:t>
            </a:r>
            <a:pPr>
              <a:lnSpc>
                <a:spcPct val="160000"/>
              </a:lnSpc>
            </a:pPr>
            <a:r>
              <a:rPr lang="en-US" sz="213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shows a moderate positive correlation (r = 0.68), suggesting combustion-related origins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13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2130" b="1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(TEMP)</a:t>
            </a:r>
            <a:pPr>
              <a:lnSpc>
                <a:spcPct val="160000"/>
              </a:lnSpc>
            </a:pPr>
            <a:r>
              <a:rPr lang="en-US" sz="213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a weak negative correlation (r = -0.35), consistent with winter heating-season pollution peaks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19642709" y="11514709"/>
            <a:ext cx="1016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19520789" y="11453749"/>
            <a:ext cx="1259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1219200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2032000"/>
            <a:ext cx="6096000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1971040"/>
            <a:ext cx="6339840" cy="215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4402709"/>
            <a:ext cx="1354709" cy="0"/>
          </a:xfrm>
          <a:prstGeom prst="straightConnector1">
            <a:avLst/>
          </a:prstGeom>
          <a:noFill/>
          <a:ln w="38100">
            <a:solidFill>
              <a:srgbClr val="C87E4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16000" y="4741291"/>
            <a:ext cx="6096000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94080" y="4680331"/>
            <a:ext cx="6339840" cy="215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2017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7112000"/>
            <a:ext cx="6096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94080" y="7051040"/>
            <a:ext cx="6339840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13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years of continuous multi-station monitoring revealing the complex dynamics of urban air quality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0" y="2032000"/>
            <a:ext cx="11514709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022080" y="1971040"/>
            <a:ext cx="11758549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70" spc="133" kern="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0" y="3132709"/>
            <a:ext cx="846709" cy="50800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73591" y="3725291"/>
            <a:ext cx="414909" cy="474091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14" name="Shape 12"/>
          <p:cNvSpPr/>
          <p:nvPr/>
        </p:nvSpPr>
        <p:spPr>
          <a:xfrm>
            <a:off x="9821291" y="3640709"/>
            <a:ext cx="10837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699371" y="3579749"/>
            <a:ext cx="11081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130" b="1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Integrity:</a:t>
            </a:r>
            <a:pPr>
              <a:lnSpc>
                <a:spcPct val="150000"/>
              </a:lnSpc>
            </a:pPr>
            <a:r>
              <a:rPr lang="en-US" sz="213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Rigorous cleaning ensured reliable results through mean imputation and deduplication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73591" y="5080000"/>
            <a:ext cx="414909" cy="474091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17" name="Shape 15"/>
          <p:cNvSpPr/>
          <p:nvPr/>
        </p:nvSpPr>
        <p:spPr>
          <a:xfrm>
            <a:off x="9821291" y="4995291"/>
            <a:ext cx="10837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699371" y="4934331"/>
            <a:ext cx="11081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130" b="1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Particulate Dominance:</a:t>
            </a:r>
            <a:pPr>
              <a:lnSpc>
                <a:spcPct val="150000"/>
              </a:lnSpc>
            </a:pPr>
            <a:r>
              <a:rPr lang="en-US" sz="213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PM2.5 and PM10 show the highest variability, demanding targeted policy focus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73591" y="6434709"/>
            <a:ext cx="414909" cy="474091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20" name="Shape 18"/>
          <p:cNvSpPr/>
          <p:nvPr/>
        </p:nvSpPr>
        <p:spPr>
          <a:xfrm>
            <a:off x="9821291" y="6350000"/>
            <a:ext cx="10837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699371" y="6289040"/>
            <a:ext cx="11081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130" b="1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Meteorological Drivers:</a:t>
            </a:r>
            <a:pPr>
              <a:lnSpc>
                <a:spcPct val="150000"/>
              </a:lnSpc>
            </a:pPr>
            <a:r>
              <a:rPr lang="en-US" sz="213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Temperature and wind patterns significantly influence pollution dispersion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73591" y="7789291"/>
            <a:ext cx="414909" cy="474091"/>
          </a:xfrm>
          <a:prstGeom prst="rect">
            <a:avLst/>
          </a:prstGeom>
          <a:solidFill>
            <a:srgbClr val="C87E4F"/>
          </a:solidFill>
          <a:ln/>
        </p:spPr>
      </p:sp>
      <p:sp>
        <p:nvSpPr>
          <p:cNvPr id="23" name="Shape 21"/>
          <p:cNvSpPr/>
          <p:nvPr/>
        </p:nvSpPr>
        <p:spPr>
          <a:xfrm>
            <a:off x="9821291" y="7704709"/>
            <a:ext cx="10837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699371" y="7643749"/>
            <a:ext cx="11081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130" b="1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Insight:</a:t>
            </a:r>
            <a:pPr>
              <a:lnSpc>
                <a:spcPct val="150000"/>
              </a:lnSpc>
            </a:pPr>
            <a:r>
              <a:rPr lang="en-US" sz="2130" dirty="0">
                <a:solidFill>
                  <a:srgbClr val="1C25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Shared PM sources and winter heating peaks inform seasonal mitigation strategies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0" y="9482709"/>
            <a:ext cx="11514709" cy="0"/>
          </a:xfrm>
          <a:prstGeom prst="straightConnector1">
            <a:avLst/>
          </a:prstGeom>
          <a:noFill/>
          <a:ln w="12700">
            <a:solidFill>
              <a:srgbClr val="E0DCD7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144000" y="9821291"/>
            <a:ext cx="11514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022080" y="9760331"/>
            <a:ext cx="11758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133" kern="0" dirty="0">
                <a:solidFill>
                  <a:srgbClr val="2A3F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9642709" y="11514709"/>
            <a:ext cx="1016000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9520789" y="11453749"/>
            <a:ext cx="1259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7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Untitled</dc:subject>
  <dc:creator>Kimi</dc:creator>
  <cp:lastModifiedBy>Kimi</cp:lastModifiedBy>
  <cp:revision>1</cp:revision>
  <dcterms:created xsi:type="dcterms:W3CDTF">2026-04-25T10:11:31Z</dcterms:created>
  <dcterms:modified xsi:type="dcterms:W3CDTF">2026-04-25T10:11:31Z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{"Label":"Untitled","ContentProducer":"001191110108MACG2KBH8F10000","ProduceID":"19dc41aa-95a2-8be9-8000-00007a7bb942","ReservedCode1":"","ContentPropagator":"001191110108MACG2KBH8F20000","PropagateID":"19dc41aa-95a2-8be9-8000-00007a7bb942","ReservedCode2":""}</vt:lpwstr>
  </property>
</Properties>
</file>